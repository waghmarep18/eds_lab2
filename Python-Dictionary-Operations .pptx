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Corben" panose="020F0503020000020004" pitchFamily="34" charset="0"/>
      <p:regular r:id="rId9"/>
    </p:embeddedFont>
    <p:embeddedFont>
      <p:font typeface="Nobile" panose="02000503050000020004" pitchFamily="2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font" Target="fonts/font2.fntdata" /><Relationship Id="rId4" Type="http://schemas.openxmlformats.org/officeDocument/2006/relationships/slide" Target="slides/slide3.xml" /><Relationship Id="rId9" Type="http://schemas.openxmlformats.org/officeDocument/2006/relationships/font" Target="fonts/font1.fntdata" /><Relationship Id="rId14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602BAB-AC56-FE47-ACB2-122D43AC802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70478-2D04-0C4E-9799-A5148B72A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231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34032"/>
            <a:ext cx="80326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Python Dictionary Operations</a:t>
            </a:r>
            <a:endParaRPr lang="en-US" sz="4450"/>
          </a:p>
        </p:txBody>
      </p:sp>
      <p:sp>
        <p:nvSpPr>
          <p:cNvPr id="3" name="Text 1"/>
          <p:cNvSpPr/>
          <p:nvPr/>
        </p:nvSpPr>
        <p:spPr>
          <a:xfrm>
            <a:off x="793790" y="38964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Name:</a:t>
            </a:r>
            <a:r>
              <a:rPr lang="en-US" sz="17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Pornima Madanpal Waghmare</a:t>
            </a:r>
            <a:endParaRPr lang="en-US" sz="1750"/>
          </a:p>
        </p:txBody>
      </p:sp>
      <p:sp>
        <p:nvSpPr>
          <p:cNvPr id="4" name="Text 2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Class:</a:t>
            </a:r>
            <a:r>
              <a:rPr lang="en-US" sz="17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CS1/C11</a:t>
            </a:r>
            <a:endParaRPr lang="en-US" sz="1750"/>
          </a:p>
        </p:txBody>
      </p:sp>
      <p:sp>
        <p:nvSpPr>
          <p:cNvPr id="5" name="Text 3"/>
          <p:cNvSpPr/>
          <p:nvPr/>
        </p:nvSpPr>
        <p:spPr>
          <a:xfrm>
            <a:off x="793790" y="513254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PRN:</a:t>
            </a:r>
            <a:r>
              <a:rPr lang="en-US" sz="17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202501040010</a:t>
            </a:r>
            <a:endParaRPr lang="en-US" sz="17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2E2966-3408-AFC5-3B9A-298FBEE277D0}"/>
              </a:ext>
            </a:extLst>
          </p:cNvPr>
          <p:cNvSpPr txBox="1"/>
          <p:nvPr/>
        </p:nvSpPr>
        <p:spPr>
          <a:xfrm>
            <a:off x="6403642" y="3199334"/>
            <a:ext cx="5991558" cy="1060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91051"/>
            <a:ext cx="900493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Introduction to Python Dictionary</a:t>
            </a:r>
            <a:endParaRPr lang="en-US" sz="4450"/>
          </a:p>
        </p:txBody>
      </p:sp>
      <p:sp>
        <p:nvSpPr>
          <p:cNvPr id="3" name="Shape 1"/>
          <p:cNvSpPr/>
          <p:nvPr/>
        </p:nvSpPr>
        <p:spPr>
          <a:xfrm>
            <a:off x="793790" y="3853458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4087892"/>
            <a:ext cx="28827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What is a Dictionary?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1028224" y="4578310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Unordered collection of key-value pairs</a:t>
            </a:r>
            <a:endParaRPr lang="en-US" sz="1750"/>
          </a:p>
        </p:txBody>
      </p:sp>
      <p:sp>
        <p:nvSpPr>
          <p:cNvPr id="6" name="Shape 4"/>
          <p:cNvSpPr/>
          <p:nvPr/>
        </p:nvSpPr>
        <p:spPr>
          <a:xfrm>
            <a:off x="5216962" y="3853458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1396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Structure</a:t>
            </a:r>
            <a:endParaRPr lang="en-US" sz="2200"/>
          </a:p>
        </p:txBody>
      </p:sp>
      <p:sp>
        <p:nvSpPr>
          <p:cNvPr id="8" name="Text 6"/>
          <p:cNvSpPr/>
          <p:nvPr/>
        </p:nvSpPr>
        <p:spPr>
          <a:xfrm>
            <a:off x="5451396" y="4578310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Keys must be unique and immutable</a:t>
            </a:r>
            <a:endParaRPr lang="en-US" sz="1750"/>
          </a:p>
        </p:txBody>
      </p:sp>
      <p:sp>
        <p:nvSpPr>
          <p:cNvPr id="9" name="Shape 7"/>
          <p:cNvSpPr/>
          <p:nvPr/>
        </p:nvSpPr>
        <p:spPr>
          <a:xfrm>
            <a:off x="9640133" y="3853458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4568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Syntax</a:t>
            </a:r>
            <a:endParaRPr lang="en-US" sz="2200"/>
          </a:p>
        </p:txBody>
      </p:sp>
      <p:sp>
        <p:nvSpPr>
          <p:cNvPr id="11" name="Text 9"/>
          <p:cNvSpPr/>
          <p:nvPr/>
        </p:nvSpPr>
        <p:spPr>
          <a:xfrm>
            <a:off x="9874568" y="4578310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Created using curly braces { }</a:t>
            </a:r>
            <a:endParaRPr lang="en-US" sz="17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67495"/>
            <a:ext cx="873859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Important Features of Dictionary</a:t>
            </a:r>
            <a:endParaRPr lang="en-US" sz="4450"/>
          </a:p>
        </p:txBody>
      </p:sp>
      <p:sp>
        <p:nvSpPr>
          <p:cNvPr id="3" name="Text 1"/>
          <p:cNvSpPr/>
          <p:nvPr/>
        </p:nvSpPr>
        <p:spPr>
          <a:xfrm>
            <a:off x="793790" y="302990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01</a:t>
            </a:r>
            <a:endParaRPr lang="en-US" sz="1750"/>
          </a:p>
        </p:txBody>
      </p:sp>
      <p:sp>
        <p:nvSpPr>
          <p:cNvPr id="4" name="Shape 2"/>
          <p:cNvSpPr/>
          <p:nvPr/>
        </p:nvSpPr>
        <p:spPr>
          <a:xfrm>
            <a:off x="793790" y="3384947"/>
            <a:ext cx="6407944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5592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Unordered Collection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793790" y="4049673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Items stored without fixed position</a:t>
            </a:r>
            <a:endParaRPr lang="en-US" sz="1750"/>
          </a:p>
        </p:txBody>
      </p:sp>
      <p:sp>
        <p:nvSpPr>
          <p:cNvPr id="7" name="Text 5"/>
          <p:cNvSpPr/>
          <p:nvPr/>
        </p:nvSpPr>
        <p:spPr>
          <a:xfrm>
            <a:off x="7428548" y="302990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02</a:t>
            </a:r>
            <a:endParaRPr lang="en-US" sz="1750"/>
          </a:p>
        </p:txBody>
      </p:sp>
      <p:sp>
        <p:nvSpPr>
          <p:cNvPr id="8" name="Shape 6"/>
          <p:cNvSpPr/>
          <p:nvPr/>
        </p:nvSpPr>
        <p:spPr>
          <a:xfrm>
            <a:off x="7428548" y="3384947"/>
            <a:ext cx="6408063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35592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Key-Value Pairs</a:t>
            </a:r>
            <a:endParaRPr lang="en-US" sz="2200"/>
          </a:p>
        </p:txBody>
      </p:sp>
      <p:sp>
        <p:nvSpPr>
          <p:cNvPr id="10" name="Text 8"/>
          <p:cNvSpPr/>
          <p:nvPr/>
        </p:nvSpPr>
        <p:spPr>
          <a:xfrm>
            <a:off x="7428548" y="4049673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Each key maps to a specific value</a:t>
            </a:r>
            <a:endParaRPr lang="en-US" sz="1750"/>
          </a:p>
        </p:txBody>
      </p:sp>
      <p:sp>
        <p:nvSpPr>
          <p:cNvPr id="11" name="Text 9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03</a:t>
            </a:r>
            <a:endParaRPr lang="en-US" sz="1750"/>
          </a:p>
        </p:txBody>
      </p:sp>
      <p:sp>
        <p:nvSpPr>
          <p:cNvPr id="12" name="Shape 10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Mutable</a:t>
            </a:r>
            <a:endParaRPr lang="en-US" sz="2200"/>
          </a:p>
        </p:txBody>
      </p:sp>
      <p:sp>
        <p:nvSpPr>
          <p:cNvPr id="14" name="Text 12"/>
          <p:cNvSpPr/>
          <p:nvPr/>
        </p:nvSpPr>
        <p:spPr>
          <a:xfrm>
            <a:off x="793790" y="5829181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Can add, modify, or remove items</a:t>
            </a:r>
            <a:endParaRPr lang="en-US" sz="1750"/>
          </a:p>
        </p:txBody>
      </p:sp>
      <p:sp>
        <p:nvSpPr>
          <p:cNvPr id="15" name="Text 13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04</a:t>
            </a:r>
            <a:endParaRPr lang="en-US" sz="1750"/>
          </a:p>
        </p:txBody>
      </p:sp>
      <p:sp>
        <p:nvSpPr>
          <p:cNvPr id="16" name="Shape 14"/>
          <p:cNvSpPr/>
          <p:nvPr/>
        </p:nvSpPr>
        <p:spPr>
          <a:xfrm>
            <a:off x="7428548" y="5164455"/>
            <a:ext cx="6408063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Dynamic Size</a:t>
            </a:r>
            <a:endParaRPr lang="en-US" sz="2200"/>
          </a:p>
        </p:txBody>
      </p:sp>
      <p:sp>
        <p:nvSpPr>
          <p:cNvPr id="18" name="Text 16"/>
          <p:cNvSpPr/>
          <p:nvPr/>
        </p:nvSpPr>
        <p:spPr>
          <a:xfrm>
            <a:off x="7428548" y="5829181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Grows or shrinks as needed</a:t>
            </a:r>
            <a:endParaRPr lang="en-US" sz="17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07444"/>
            <a:ext cx="1170610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Dictionary Operations – Accessing &amp; Adding</a:t>
            </a:r>
            <a:endParaRPr lang="en-US" sz="4450"/>
          </a:p>
        </p:txBody>
      </p:sp>
      <p:sp>
        <p:nvSpPr>
          <p:cNvPr id="3" name="Shape 1"/>
          <p:cNvSpPr/>
          <p:nvPr/>
        </p:nvSpPr>
        <p:spPr>
          <a:xfrm>
            <a:off x="793790" y="3569851"/>
            <a:ext cx="6407944" cy="2252305"/>
          </a:xfrm>
          <a:prstGeom prst="roundRect">
            <a:avLst>
              <a:gd name="adj" fmla="val 4230"/>
            </a:avLst>
          </a:prstGeom>
          <a:solidFill>
            <a:srgbClr val="F9F9FF">
              <a:alpha val="95000"/>
            </a:srgbClr>
          </a:solidFill>
          <a:ln w="30480">
            <a:solidFill>
              <a:srgbClr val="B8BF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38271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Accessing Values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1051084" y="4317563"/>
            <a:ext cx="5893356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 key inside square brackets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Access value through key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 must exist in dictionary</a:t>
            </a:r>
            <a:endParaRPr lang="en-US" sz="1750"/>
          </a:p>
        </p:txBody>
      </p:sp>
      <p:sp>
        <p:nvSpPr>
          <p:cNvPr id="6" name="Shape 4"/>
          <p:cNvSpPr/>
          <p:nvPr/>
        </p:nvSpPr>
        <p:spPr>
          <a:xfrm>
            <a:off x="7428548" y="3569851"/>
            <a:ext cx="6408063" cy="2252305"/>
          </a:xfrm>
          <a:prstGeom prst="roundRect">
            <a:avLst>
              <a:gd name="adj" fmla="val 4230"/>
            </a:avLst>
          </a:prstGeom>
          <a:solidFill>
            <a:srgbClr val="F9F9FF">
              <a:alpha val="95000"/>
            </a:srgbClr>
          </a:solidFill>
          <a:ln w="30480">
            <a:solidFill>
              <a:srgbClr val="B8BF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5842" y="38271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Adding Items</a:t>
            </a:r>
            <a:endParaRPr lang="en-US" sz="2200"/>
          </a:p>
        </p:txBody>
      </p:sp>
      <p:sp>
        <p:nvSpPr>
          <p:cNvPr id="8" name="Text 6"/>
          <p:cNvSpPr/>
          <p:nvPr/>
        </p:nvSpPr>
        <p:spPr>
          <a:xfrm>
            <a:off x="7685842" y="4317563"/>
            <a:ext cx="5893475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Assign value to new key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Key-value pair added to dictionary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Creates new entry</a:t>
            </a:r>
            <a:endParaRPr lang="en-US" sz="17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07444"/>
            <a:ext cx="118700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Dictionary Operations – Updating &amp; Deleting</a:t>
            </a:r>
            <a:endParaRPr lang="en-US" sz="4450"/>
          </a:p>
        </p:txBody>
      </p:sp>
      <p:sp>
        <p:nvSpPr>
          <p:cNvPr id="3" name="Shape 1"/>
          <p:cNvSpPr/>
          <p:nvPr/>
        </p:nvSpPr>
        <p:spPr>
          <a:xfrm>
            <a:off x="793790" y="3569851"/>
            <a:ext cx="6407944" cy="2252305"/>
          </a:xfrm>
          <a:prstGeom prst="roundRect">
            <a:avLst>
              <a:gd name="adj" fmla="val 4230"/>
            </a:avLst>
          </a:prstGeom>
          <a:solidFill>
            <a:srgbClr val="F9F9FF">
              <a:alpha val="95000"/>
            </a:srgbClr>
          </a:solidFill>
          <a:ln w="30480">
            <a:solidFill>
              <a:srgbClr val="B8BF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38271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Updating Values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1051084" y="4317563"/>
            <a:ext cx="5893356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Access existing key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Assign new value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Modifies current entry</a:t>
            </a:r>
            <a:endParaRPr lang="en-US" sz="1750"/>
          </a:p>
        </p:txBody>
      </p:sp>
      <p:sp>
        <p:nvSpPr>
          <p:cNvPr id="6" name="Shape 4"/>
          <p:cNvSpPr/>
          <p:nvPr/>
        </p:nvSpPr>
        <p:spPr>
          <a:xfrm>
            <a:off x="7428548" y="3569851"/>
            <a:ext cx="6408063" cy="2252305"/>
          </a:xfrm>
          <a:prstGeom prst="roundRect">
            <a:avLst>
              <a:gd name="adj" fmla="val 4230"/>
            </a:avLst>
          </a:prstGeom>
          <a:solidFill>
            <a:srgbClr val="F9F9FF">
              <a:alpha val="95000"/>
            </a:srgbClr>
          </a:solidFill>
          <a:ln w="30480">
            <a:solidFill>
              <a:srgbClr val="B8BF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5842" y="38271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Deleting Items</a:t>
            </a:r>
            <a:endParaRPr lang="en-US" sz="2200"/>
          </a:p>
        </p:txBody>
      </p:sp>
      <p:sp>
        <p:nvSpPr>
          <p:cNvPr id="8" name="Text 6"/>
          <p:cNvSpPr/>
          <p:nvPr/>
        </p:nvSpPr>
        <p:spPr>
          <a:xfrm>
            <a:off x="7685842" y="4317563"/>
            <a:ext cx="5893475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 del keyword with key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Removes specified key-value pair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 must exist</a:t>
            </a:r>
            <a:endParaRPr lang="en-US" sz="17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7250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Dictionary Methods</a:t>
            </a:r>
            <a:endParaRPr lang="en-US" sz="4450"/>
          </a:p>
        </p:txBody>
      </p:sp>
      <p:sp>
        <p:nvSpPr>
          <p:cNvPr id="3" name="Shape 1"/>
          <p:cNvSpPr/>
          <p:nvPr/>
        </p:nvSpPr>
        <p:spPr>
          <a:xfrm>
            <a:off x="793790" y="4034909"/>
            <a:ext cx="4196358" cy="1322189"/>
          </a:xfrm>
          <a:prstGeom prst="roundRect">
            <a:avLst>
              <a:gd name="adj" fmla="val 7205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keys()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1028224" y="4759762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Returns all keys in dictionary</a:t>
            </a:r>
            <a:endParaRPr lang="en-US" sz="1750"/>
          </a:p>
        </p:txBody>
      </p:sp>
      <p:sp>
        <p:nvSpPr>
          <p:cNvPr id="6" name="Shape 4"/>
          <p:cNvSpPr/>
          <p:nvPr/>
        </p:nvSpPr>
        <p:spPr>
          <a:xfrm>
            <a:off x="5216962" y="4034909"/>
            <a:ext cx="4196358" cy="1322189"/>
          </a:xfrm>
          <a:prstGeom prst="roundRect">
            <a:avLst>
              <a:gd name="adj" fmla="val 7205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1396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values()</a:t>
            </a:r>
            <a:endParaRPr lang="en-US" sz="2200"/>
          </a:p>
        </p:txBody>
      </p:sp>
      <p:sp>
        <p:nvSpPr>
          <p:cNvPr id="8" name="Text 6"/>
          <p:cNvSpPr/>
          <p:nvPr/>
        </p:nvSpPr>
        <p:spPr>
          <a:xfrm>
            <a:off x="5451396" y="4759762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Returns all values in dictionary</a:t>
            </a:r>
            <a:endParaRPr lang="en-US" sz="1750"/>
          </a:p>
        </p:txBody>
      </p:sp>
      <p:sp>
        <p:nvSpPr>
          <p:cNvPr id="9" name="Shape 7"/>
          <p:cNvSpPr/>
          <p:nvPr/>
        </p:nvSpPr>
        <p:spPr>
          <a:xfrm>
            <a:off x="9640133" y="4034909"/>
            <a:ext cx="4196358" cy="1322189"/>
          </a:xfrm>
          <a:prstGeom prst="roundRect">
            <a:avLst>
              <a:gd name="adj" fmla="val 7205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4568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items()</a:t>
            </a:r>
            <a:endParaRPr lang="en-US" sz="2200"/>
          </a:p>
        </p:txBody>
      </p:sp>
      <p:sp>
        <p:nvSpPr>
          <p:cNvPr id="11" name="Text 9"/>
          <p:cNvSpPr/>
          <p:nvPr/>
        </p:nvSpPr>
        <p:spPr>
          <a:xfrm>
            <a:off x="9874568" y="4759762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Returns key-value pairs as tuples</a:t>
            </a:r>
            <a:endParaRPr lang="en-US" sz="17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6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Porrnima Waghmare</cp:lastModifiedBy>
  <cp:revision>1</cp:revision>
  <dcterms:created xsi:type="dcterms:W3CDTF">2026-03-16T16:22:09Z</dcterms:created>
  <dcterms:modified xsi:type="dcterms:W3CDTF">2026-03-16T17:24:31Z</dcterms:modified>
</cp:coreProperties>
</file>